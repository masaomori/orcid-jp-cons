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removePersonalInfoOnSave="1" saveSubsetFonts="1">
  <p:sldMasterIdLst>
    <p:sldMasterId id="2147483984" r:id="rId1"/>
  </p:sldMasterIdLst>
  <p:notesMasterIdLst>
    <p:notesMasterId r:id="rId16"/>
  </p:notesMasterIdLst>
  <p:handoutMasterIdLst>
    <p:handoutMasterId r:id="rId17"/>
  </p:handoutMasterIdLst>
  <p:sldIdLst>
    <p:sldId id="454" r:id="rId2"/>
    <p:sldId id="481" r:id="rId3"/>
    <p:sldId id="480" r:id="rId4"/>
    <p:sldId id="486" r:id="rId5"/>
    <p:sldId id="473" r:id="rId6"/>
    <p:sldId id="487" r:id="rId7"/>
    <p:sldId id="482" r:id="rId8"/>
    <p:sldId id="483" r:id="rId9"/>
    <p:sldId id="488" r:id="rId10"/>
    <p:sldId id="490" r:id="rId11"/>
    <p:sldId id="484" r:id="rId12"/>
    <p:sldId id="476" r:id="rId13"/>
    <p:sldId id="477" r:id="rId14"/>
    <p:sldId id="485" r:id="rId15"/>
  </p:sldIdLst>
  <p:sldSz cx="9144000" cy="6858000" type="screen4x3"/>
  <p:notesSz cx="6799263" cy="9929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772E"/>
    <a:srgbClr val="EAEAEA"/>
    <a:srgbClr val="00DE64"/>
    <a:srgbClr val="56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間スタイル 3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06" autoAdjust="0"/>
    <p:restoredTop sz="84199" autoAdjust="0"/>
  </p:normalViewPr>
  <p:slideViewPr>
    <p:cSldViewPr>
      <p:cViewPr varScale="1">
        <p:scale>
          <a:sx n="110" d="100"/>
          <a:sy n="110" d="100"/>
        </p:scale>
        <p:origin x="61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40"/>
    </p:cViewPr>
  </p:sorterViewPr>
  <p:notesViewPr>
    <p:cSldViewPr>
      <p:cViewPr varScale="1">
        <p:scale>
          <a:sx n="112" d="100"/>
          <a:sy n="112" d="100"/>
        </p:scale>
        <p:origin x="2988" y="126"/>
      </p:cViewPr>
      <p:guideLst>
        <p:guide orient="horz" pos="3126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1345" y="9431602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r">
              <a:defRPr sz="1200"/>
            </a:lvl1pPr>
          </a:lstStyle>
          <a:p>
            <a:fld id="{DBE1666C-181B-4340-AAE5-03EA1D1B3FC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6523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1345" y="1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/>
          <a:lstStyle>
            <a:lvl1pPr algn="r">
              <a:defRPr sz="1200"/>
            </a:lvl1pPr>
          </a:lstStyle>
          <a:p>
            <a:fld id="{71B8FD06-9AA5-4376-AA5A-C4D3AA02B0E7}" type="datetimeFigureOut">
              <a:rPr kumimoji="1" lang="ja-JP" altLang="en-US" smtClean="0"/>
              <a:pPr/>
              <a:t>2017/9/20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0" tIns="45665" rIns="91330" bIns="45665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927" y="4716663"/>
            <a:ext cx="5439410" cy="4468416"/>
          </a:xfrm>
          <a:prstGeom prst="rect">
            <a:avLst/>
          </a:prstGeom>
        </p:spPr>
        <p:txBody>
          <a:bodyPr vert="horz" lIns="91330" tIns="45665" rIns="91330" bIns="45665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3" y="9431602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1345" y="9431602"/>
            <a:ext cx="2946347" cy="496490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r">
              <a:defRPr sz="1200"/>
            </a:lvl1pPr>
          </a:lstStyle>
          <a:p>
            <a:fld id="{29DF9EAA-7F27-4999-944B-42B40E6183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2555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2613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22466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8288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52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408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867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215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8027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9844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33734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0080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21100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605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98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/>
              <a:t>マスタ サブタイトルの書式設定</a:t>
            </a:r>
            <a:endParaRPr kumimoji="0" lang="en-US"/>
          </a:p>
        </p:txBody>
      </p:sp>
      <p:sp>
        <p:nvSpPr>
          <p:cNvPr id="21" name="正方形/長方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正方形/長方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正方形/長方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正方形/長方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1907704" y="6356350"/>
            <a:ext cx="5328592" cy="365760"/>
          </a:xfrm>
        </p:spPr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115036" cy="365760"/>
          </a:xfrm>
        </p:spPr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4888200"/>
          </a:xfrm>
        </p:spPr>
        <p:txBody>
          <a:bodyPr/>
          <a:lstStyle/>
          <a:p>
            <a:pPr lvl="0" eaLnBrk="1" latinLnBrk="0" hangingPunct="1"/>
            <a:r>
              <a:rPr lang="ja-JP" altLang="en-US" dirty="0"/>
              <a:t>マスタ テキストの書式設定</a:t>
            </a:r>
          </a:p>
          <a:p>
            <a:pPr lvl="1" eaLnBrk="1" latinLnBrk="0" hangingPunct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 eaLnBrk="1" latinLnBrk="0" hangingPunct="1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 eaLnBrk="1" latinLnBrk="0" hangingPunct="1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 eaLnBrk="1" latinLnBrk="0" hangingPunct="1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コンテンツ プレースホル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13" name="コンテンツ プレースホル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ja-JP" altLang="en-US"/>
              <a:t>マスタ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二等辺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直線コネクタ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二等辺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タイトル プレースホル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13" name="テキスト プレースホルダ 12"/>
          <p:cNvSpPr>
            <a:spLocks noGrp="1"/>
          </p:cNvSpPr>
          <p:nvPr>
            <p:ph type="body" idx="1"/>
          </p:nvPr>
        </p:nvSpPr>
        <p:spPr>
          <a:xfrm>
            <a:off x="457200" y="1304764"/>
            <a:ext cx="8229600" cy="482476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 dirty="0"/>
              <a:t>マスタ テキストの書式設定</a:t>
            </a:r>
          </a:p>
          <a:p>
            <a:pPr lvl="1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2 </a:t>
            </a:r>
            <a:r>
              <a:rPr kumimoji="0" lang="ja-JP" altLang="en-US" dirty="0"/>
              <a:t>レベル</a:t>
            </a:r>
          </a:p>
          <a:p>
            <a:pPr lvl="2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3 </a:t>
            </a:r>
            <a:r>
              <a:rPr kumimoji="0" lang="ja-JP" altLang="en-US" dirty="0"/>
              <a:t>レベル</a:t>
            </a:r>
          </a:p>
          <a:p>
            <a:pPr lvl="3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4 </a:t>
            </a:r>
            <a:r>
              <a:rPr kumimoji="0" lang="ja-JP" altLang="en-US" dirty="0"/>
              <a:t>レベル</a:t>
            </a:r>
          </a:p>
          <a:p>
            <a:pPr lvl="4" eaLnBrk="1" latinLnBrk="0" hangingPunct="1"/>
            <a:r>
              <a:rPr kumimoji="0" lang="ja-JP" altLang="en-US" dirty="0"/>
              <a:t>第 </a:t>
            </a:r>
            <a:r>
              <a:rPr kumimoji="0" lang="en-US" altLang="ja-JP" dirty="0"/>
              <a:t>5 </a:t>
            </a:r>
            <a:r>
              <a:rPr kumimoji="0" lang="ja-JP" altLang="en-US" dirty="0"/>
              <a:t>レベル</a:t>
            </a:r>
            <a:endParaRPr kumimoji="0" lang="en-US" dirty="0"/>
          </a:p>
        </p:txBody>
      </p:sp>
      <p:sp>
        <p:nvSpPr>
          <p:cNvPr id="14" name="日付プレースホルダ 13"/>
          <p:cNvSpPr>
            <a:spLocks noGrp="1"/>
          </p:cNvSpPr>
          <p:nvPr>
            <p:ph type="dt" sz="half" idx="2"/>
          </p:nvPr>
        </p:nvSpPr>
        <p:spPr>
          <a:xfrm>
            <a:off x="7488324" y="6356350"/>
            <a:ext cx="120152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3"/>
          </p:nvPr>
        </p:nvSpPr>
        <p:spPr>
          <a:xfrm>
            <a:off x="1955140" y="6356350"/>
            <a:ext cx="5245152" cy="365760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ctr"/>
            <a:endParaRPr kumimoji="1" lang="ja-JP" altLang="en-US" dirty="0"/>
          </a:p>
        </p:txBody>
      </p:sp>
      <p:sp>
        <p:nvSpPr>
          <p:cNvPr id="23" name="スライド番号プレースホル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18704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84AF41C-CC69-49FC-A5F4-11F4FB54851A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28" name="直線コネクタ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コネクタ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二等辺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8" r:id="rId3"/>
    <p:sldLayoutId id="2147483989" r:id="rId4"/>
    <p:sldLayoutId id="2147483990" r:id="rId5"/>
    <p:sldLayoutId id="2147483991" r:id="rId6"/>
  </p:sldLayoutIdLst>
  <p:hf hdr="0" ftr="0"/>
  <p:txStyles>
    <p:titleStyle>
      <a:lvl1pPr algn="ctr" rtl="0" eaLnBrk="1" latinLnBrk="0" hangingPunct="1">
        <a:spcBef>
          <a:spcPct val="0"/>
        </a:spcBef>
        <a:buNone/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" panose="05000000000000000000" pitchFamily="2" charset="2"/>
        <a:buChar char="l"/>
        <a:defRPr kumimoji="1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anose="05000000000000000000" pitchFamily="2" charset="2"/>
        <a:buChar char="l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1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1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1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1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about/membershi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about/membershi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230559" y="3861048"/>
            <a:ext cx="6858000" cy="990600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ORCID</a:t>
            </a:r>
            <a:r>
              <a:rPr lang="ja-JP" altLang="en-US" sz="2800" dirty="0"/>
              <a:t>国内コンソーシアムの設立に</a:t>
            </a:r>
            <a:r>
              <a:rPr lang="ja-JP" altLang="en-US" sz="2800" dirty="0" smtClean="0"/>
              <a:t>向けて</a:t>
            </a:r>
            <a:endParaRPr kumimoji="1" lang="ja-JP" altLang="en-US" sz="28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559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日本の現状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3204356"/>
          </a:xfrm>
        </p:spPr>
        <p:txBody>
          <a:bodyPr anchor="ctr">
            <a:normAutofit/>
          </a:bodyPr>
          <a:lstStyle/>
          <a:p>
            <a:r>
              <a:rPr lang="ja-JP" altLang="en-US" dirty="0"/>
              <a:t>海外では、機関メンバー数も増加し、コンソーシアム化の動きも加速している</a:t>
            </a:r>
            <a:endParaRPr lang="en-US" altLang="ja-JP" dirty="0"/>
          </a:p>
          <a:p>
            <a:pPr lvl="1">
              <a:buFont typeface="Calibri" panose="020F0502020204030204" pitchFamily="34" charset="0"/>
              <a:buChar char="&gt;"/>
            </a:pPr>
            <a:r>
              <a:rPr lang="ja-JP" altLang="en-US" dirty="0"/>
              <a:t>研究者は機関やコンソーシアムから手厚いサポートを得られる</a:t>
            </a:r>
            <a:endParaRPr lang="en-US" altLang="ja-JP" dirty="0"/>
          </a:p>
          <a:p>
            <a:r>
              <a:rPr kumimoji="1" lang="ja-JP" altLang="en-US" dirty="0"/>
              <a:t>日本の</a:t>
            </a:r>
            <a:r>
              <a:rPr kumimoji="1" lang="en-US" altLang="ja-JP" dirty="0"/>
              <a:t>ORCID </a:t>
            </a:r>
            <a:r>
              <a:rPr kumimoji="1" lang="en-US" altLang="ja-JP" dirty="0" err="1"/>
              <a:t>iD</a:t>
            </a:r>
            <a:r>
              <a:rPr kumimoji="1" lang="ja-JP" altLang="en-US" dirty="0"/>
              <a:t>取得者数は大幅に増加しているが、機関メンバー数は</a:t>
            </a:r>
            <a:r>
              <a:rPr kumimoji="1" lang="en-US" altLang="ja-JP" dirty="0"/>
              <a:t>10</a:t>
            </a:r>
            <a:r>
              <a:rPr kumimoji="1" lang="ja-JP" altLang="en-US" dirty="0"/>
              <a:t>（そのうち、大学・研究機関は</a:t>
            </a:r>
            <a:r>
              <a:rPr kumimoji="1" lang="en-US" altLang="ja-JP" dirty="0"/>
              <a:t>5</a:t>
            </a:r>
            <a:r>
              <a:rPr kumimoji="1" lang="ja-JP" altLang="en-US" dirty="0"/>
              <a:t>）にすぎない</a:t>
            </a:r>
            <a:endParaRPr lang="en-US" altLang="ja-JP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12648" y="4825656"/>
            <a:ext cx="785343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600" dirty="0">
                <a:solidFill>
                  <a:srgbClr val="FF0000"/>
                </a:solidFill>
              </a:rPr>
              <a:t>研究者は機関やコンソーシアムのサポートがなく、</a:t>
            </a:r>
            <a:endParaRPr lang="en-US" altLang="ja-JP" sz="2600" dirty="0">
              <a:solidFill>
                <a:srgbClr val="FF0000"/>
              </a:solidFill>
            </a:endParaRPr>
          </a:p>
          <a:p>
            <a:r>
              <a:rPr lang="en-US" altLang="ja-JP" sz="2600" dirty="0">
                <a:solidFill>
                  <a:srgbClr val="FF0000"/>
                </a:solidFill>
              </a:rPr>
              <a:t>ORCID </a:t>
            </a:r>
            <a:r>
              <a:rPr lang="en-US" altLang="ja-JP" sz="2600" dirty="0" err="1">
                <a:solidFill>
                  <a:srgbClr val="FF0000"/>
                </a:solidFill>
              </a:rPr>
              <a:t>iD</a:t>
            </a:r>
            <a:r>
              <a:rPr lang="ja-JP" altLang="en-US" sz="2600" dirty="0">
                <a:solidFill>
                  <a:srgbClr val="FF0000"/>
                </a:solidFill>
              </a:rPr>
              <a:t>を取得したもののどうしたらよいかわから</a:t>
            </a:r>
            <a:endParaRPr lang="en-US" altLang="ja-JP" sz="2600" dirty="0">
              <a:solidFill>
                <a:srgbClr val="FF0000"/>
              </a:solidFill>
            </a:endParaRPr>
          </a:p>
          <a:p>
            <a:r>
              <a:rPr lang="ja-JP" altLang="en-US" sz="2600" dirty="0">
                <a:solidFill>
                  <a:srgbClr val="FF0000"/>
                </a:solidFill>
              </a:rPr>
              <a:t>ない</a:t>
            </a:r>
            <a:endParaRPr lang="en-US" altLang="ja-JP" sz="2600" dirty="0">
              <a:solidFill>
                <a:srgbClr val="FF0000"/>
              </a:solidFill>
            </a:endParaRPr>
          </a:p>
        </p:txBody>
      </p:sp>
      <p:sp>
        <p:nvSpPr>
          <p:cNvPr id="10" name="下矢印 9"/>
          <p:cNvSpPr/>
          <p:nvPr/>
        </p:nvSpPr>
        <p:spPr>
          <a:xfrm>
            <a:off x="4017306" y="4253847"/>
            <a:ext cx="1044116" cy="5325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6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日本</a:t>
            </a:r>
            <a:r>
              <a:rPr lang="ja-JP" altLang="en-US" dirty="0"/>
              <a:t>の機関メンバー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ja-JP" altLang="en-US" dirty="0">
                <a:solidFill>
                  <a:schemeClr val="tx1"/>
                </a:solidFill>
              </a:rPr>
              <a:t>学術機関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大学共同利用機関法人 情報・システム研究機構 国立情報学研究所（</a:t>
            </a:r>
            <a:r>
              <a:rPr lang="en-US" altLang="ja-JP" dirty="0">
                <a:solidFill>
                  <a:schemeClr val="tx1"/>
                </a:solidFill>
              </a:rPr>
              <a:t>NII</a:t>
            </a:r>
            <a:r>
              <a:rPr lang="ja-JP" altLang="en-US" dirty="0">
                <a:solidFill>
                  <a:schemeClr val="tx1"/>
                </a:solidFill>
              </a:rPr>
              <a:t>）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ja-JP" altLang="en-US" dirty="0">
                <a:solidFill>
                  <a:schemeClr val="tx1"/>
                </a:solidFill>
              </a:rPr>
              <a:t>（</a:t>
            </a:r>
            <a:r>
              <a:rPr lang="en-US" altLang="ja-JP" dirty="0">
                <a:solidFill>
                  <a:schemeClr val="tx1"/>
                </a:solidFill>
              </a:rPr>
              <a:t>2013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r>
              <a:rPr lang="en-US" altLang="ja-JP" dirty="0">
                <a:solidFill>
                  <a:srgbClr val="00B050"/>
                </a:solidFill>
              </a:rPr>
              <a:t>Basic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慶応義塾（</a:t>
            </a:r>
            <a:r>
              <a:rPr lang="en-US" altLang="ja-JP" dirty="0">
                <a:solidFill>
                  <a:schemeClr val="tx1"/>
                </a:solidFill>
              </a:rPr>
              <a:t>2015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r>
              <a:rPr lang="en-US" altLang="ja-JP" dirty="0">
                <a:solidFill>
                  <a:srgbClr val="FA772E"/>
                </a:solidFill>
              </a:rPr>
              <a:t>Premium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国立研究開発法人 物質・材料研究機構（</a:t>
            </a:r>
            <a:r>
              <a:rPr lang="en-US" altLang="ja-JP" dirty="0">
                <a:solidFill>
                  <a:schemeClr val="tx1"/>
                </a:solidFill>
              </a:rPr>
              <a:t>NIMS</a:t>
            </a:r>
            <a:r>
              <a:rPr lang="ja-JP" altLang="en-US" dirty="0">
                <a:solidFill>
                  <a:schemeClr val="tx1"/>
                </a:solidFill>
              </a:rPr>
              <a:t>）（</a:t>
            </a:r>
            <a:r>
              <a:rPr lang="en-US" altLang="ja-JP" dirty="0">
                <a:solidFill>
                  <a:schemeClr val="tx1"/>
                </a:solidFill>
              </a:rPr>
              <a:t>2015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r>
              <a:rPr lang="en-US" altLang="ja-JP" dirty="0">
                <a:solidFill>
                  <a:srgbClr val="00B050"/>
                </a:solidFill>
              </a:rPr>
              <a:t>Basic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国立大学法人 東京工業大学（</a:t>
            </a:r>
            <a:r>
              <a:rPr lang="en-US" altLang="ja-JP" dirty="0">
                <a:solidFill>
                  <a:schemeClr val="tx1"/>
                </a:solidFill>
              </a:rPr>
              <a:t>2016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r>
              <a:rPr lang="en-US" altLang="ja-JP" dirty="0">
                <a:solidFill>
                  <a:srgbClr val="00B050"/>
                </a:solidFill>
              </a:rPr>
              <a:t>Basic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国立大学法人 筑波大学（</a:t>
            </a:r>
            <a:r>
              <a:rPr lang="en-US" altLang="ja-JP" dirty="0">
                <a:solidFill>
                  <a:schemeClr val="tx1"/>
                </a:solidFill>
              </a:rPr>
              <a:t>2017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r>
              <a:rPr lang="en-US" altLang="ja-JP" dirty="0">
                <a:solidFill>
                  <a:srgbClr val="FA772E"/>
                </a:solidFill>
              </a:rPr>
              <a:t>Premium</a:t>
            </a:r>
          </a:p>
          <a:p>
            <a:r>
              <a:rPr lang="ja-JP" altLang="en-US" dirty="0"/>
              <a:t>学協会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日本地球惑星科学連合（</a:t>
            </a:r>
            <a:r>
              <a:rPr lang="en-US" altLang="ja-JP" dirty="0">
                <a:solidFill>
                  <a:schemeClr val="tx1"/>
                </a:solidFill>
              </a:rPr>
              <a:t>2016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日本消化器外科学会（</a:t>
            </a:r>
            <a:r>
              <a:rPr lang="en-US" altLang="ja-JP" dirty="0">
                <a:solidFill>
                  <a:schemeClr val="tx1"/>
                </a:solidFill>
              </a:rPr>
              <a:t>2016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/>
              <a:t>その他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国立研究開発法人 科学技術振興機構（</a:t>
            </a:r>
            <a:r>
              <a:rPr lang="en-US" altLang="ja-JP" dirty="0">
                <a:solidFill>
                  <a:schemeClr val="tx1"/>
                </a:solidFill>
              </a:rPr>
              <a:t>JST</a:t>
            </a:r>
            <a:r>
              <a:rPr lang="ja-JP" altLang="en-US" dirty="0">
                <a:solidFill>
                  <a:schemeClr val="tx1"/>
                </a:solidFill>
              </a:rPr>
              <a:t>）（</a:t>
            </a:r>
            <a:r>
              <a:rPr lang="en-US" altLang="ja-JP" dirty="0">
                <a:solidFill>
                  <a:schemeClr val="tx1"/>
                </a:solidFill>
              </a:rPr>
              <a:t>2013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（株）アトラス（</a:t>
            </a:r>
            <a:r>
              <a:rPr lang="en-US" altLang="ja-JP" dirty="0">
                <a:solidFill>
                  <a:schemeClr val="tx1"/>
                </a:solidFill>
              </a:rPr>
              <a:t>2013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endParaRPr lang="en-US" altLang="ja-JP" dirty="0">
              <a:solidFill>
                <a:schemeClr val="tx1"/>
              </a:solidFill>
            </a:endParaRP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（株）サンメディア（</a:t>
            </a:r>
            <a:r>
              <a:rPr lang="en-US" altLang="ja-JP" dirty="0">
                <a:solidFill>
                  <a:schemeClr val="tx1"/>
                </a:solidFill>
              </a:rPr>
              <a:t>2016</a:t>
            </a:r>
            <a:r>
              <a:rPr lang="ja-JP" altLang="en-US" dirty="0">
                <a:solidFill>
                  <a:schemeClr val="tx1"/>
                </a:solidFill>
              </a:rPr>
              <a:t>～）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48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000" dirty="0"/>
              <a:t>機関メンバー会費（～</a:t>
            </a:r>
            <a:r>
              <a:rPr kumimoji="1" lang="en-US" altLang="ja-JP" sz="3000" dirty="0"/>
              <a:t>2017</a:t>
            </a:r>
            <a:r>
              <a:rPr kumimoji="1" lang="ja-JP" altLang="en-US" sz="3000" dirty="0"/>
              <a:t>年）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03891862"/>
              </p:ext>
            </p:extLst>
          </p:nvPr>
        </p:nvGraphicFramePr>
        <p:xfrm>
          <a:off x="251521" y="1235710"/>
          <a:ext cx="8640958" cy="47495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0578">
                  <a:extLst>
                    <a:ext uri="{9D8B030D-6E8A-4147-A177-3AD203B41FA5}">
                      <a16:colId xmlns:a16="http://schemas.microsoft.com/office/drawing/2014/main" val="797808354"/>
                    </a:ext>
                  </a:extLst>
                </a:gridCol>
                <a:gridCol w="5044117">
                  <a:extLst>
                    <a:ext uri="{9D8B030D-6E8A-4147-A177-3AD203B41FA5}">
                      <a16:colId xmlns:a16="http://schemas.microsoft.com/office/drawing/2014/main" val="4096571454"/>
                    </a:ext>
                  </a:extLst>
                </a:gridCol>
                <a:gridCol w="2376263">
                  <a:extLst>
                    <a:ext uri="{9D8B030D-6E8A-4147-A177-3AD203B41FA5}">
                      <a16:colId xmlns:a16="http://schemas.microsoft.com/office/drawing/2014/main" val="2675411023"/>
                    </a:ext>
                  </a:extLst>
                </a:gridCol>
              </a:tblGrid>
              <a:tr h="28350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年会費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306819"/>
                  </a:ext>
                </a:extLst>
              </a:tr>
              <a:tr h="283501">
                <a:tc rowSpan="4">
                  <a:txBody>
                    <a:bodyPr/>
                    <a:lstStyle/>
                    <a:p>
                      <a:r>
                        <a:rPr kumimoji="1" lang="en-US" altLang="ja-JP" sz="1200" dirty="0"/>
                        <a:t>Basic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Standard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US$5,000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550,000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35136"/>
                  </a:ext>
                </a:extLst>
              </a:tr>
              <a:tr h="28350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Consortium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5 or more entities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10% discount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64206"/>
                  </a:ext>
                </a:extLst>
              </a:tr>
              <a:tr h="47864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Non-profit</a:t>
                      </a:r>
                      <a:r>
                        <a:rPr kumimoji="1" lang="en-US" altLang="ja-JP" sz="1200" baseline="0" dirty="0"/>
                        <a:t> organizations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eligible for a 20% discount</a:t>
                      </a:r>
                    </a:p>
                    <a:p>
                      <a:r>
                        <a:rPr kumimoji="1" lang="en-US" altLang="ja-JP" sz="1200" dirty="0"/>
                        <a:t>US$4,000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248896"/>
                  </a:ext>
                </a:extLst>
              </a:tr>
              <a:tr h="28350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Start-up</a:t>
                      </a:r>
                      <a:r>
                        <a:rPr kumimoji="1" lang="en-US" altLang="ja-JP" sz="1200" baseline="0" dirty="0"/>
                        <a:t> organizations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eligible for a 75% discount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411173"/>
                  </a:ext>
                </a:extLst>
              </a:tr>
              <a:tr h="283501">
                <a:tc rowSpan="4">
                  <a:txBody>
                    <a:bodyPr/>
                    <a:lstStyle/>
                    <a:p>
                      <a:r>
                        <a:rPr kumimoji="1" lang="en-US" altLang="ja-JP" sz="1200" dirty="0"/>
                        <a:t>Premium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Small organizations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&lt;US$ 200M in annual revenue or grants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US$10,000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1,100,000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89694"/>
                  </a:ext>
                </a:extLst>
              </a:tr>
              <a:tr h="28350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Large organizations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&gt;US$ 200M in annual revenue</a:t>
                      </a:r>
                      <a:r>
                        <a:rPr kumimoji="1" lang="en-US" altLang="ja-JP" sz="1200" baseline="0" dirty="0"/>
                        <a:t> or grants</a:t>
                      </a:r>
                      <a:r>
                        <a:rPr kumimoji="1" lang="ja-JP" altLang="en-US" sz="1200" baseline="0" dirty="0"/>
                        <a:t>）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US$25,000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2,750,000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52385"/>
                  </a:ext>
                </a:extLst>
              </a:tr>
              <a:tr h="47864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Non-profit</a:t>
                      </a:r>
                      <a:r>
                        <a:rPr kumimoji="1" lang="en-US" altLang="ja-JP" sz="1200" baseline="0" dirty="0"/>
                        <a:t> organizations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eligible</a:t>
                      </a:r>
                      <a:r>
                        <a:rPr kumimoji="1" lang="en-US" altLang="ja-JP" sz="1200" baseline="0" dirty="0"/>
                        <a:t> for a 20% discount</a:t>
                      </a:r>
                    </a:p>
                    <a:p>
                      <a:r>
                        <a:rPr kumimoji="1" lang="en-US" altLang="ja-JP" sz="1200" baseline="0" dirty="0"/>
                        <a:t>US$8,000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8788"/>
                  </a:ext>
                </a:extLst>
              </a:tr>
              <a:tr h="28350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Start-up organizations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eligible for a 75% discount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995149"/>
                  </a:ext>
                </a:extLst>
              </a:tr>
              <a:tr h="283501">
                <a:tc rowSpan="5">
                  <a:txBody>
                    <a:bodyPr/>
                    <a:lstStyle/>
                    <a:p>
                      <a:r>
                        <a:rPr kumimoji="1" lang="en-US" altLang="ja-JP" sz="1200" dirty="0"/>
                        <a:t>Premium Consortium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5-9 members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US$6,000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660,000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22067"/>
                  </a:ext>
                </a:extLst>
              </a:tr>
              <a:tr h="28350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10-19 members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US$5,000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550,000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961385"/>
                  </a:ext>
                </a:extLst>
              </a:tr>
              <a:tr h="28350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20-29 members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US$4,000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440,000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916210"/>
                  </a:ext>
                </a:extLst>
              </a:tr>
              <a:tr h="47864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30-99 members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US$135,000 per consortium</a:t>
                      </a:r>
                    </a:p>
                    <a:p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14,850,000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100"/>
                  </a:ext>
                </a:extLst>
              </a:tr>
              <a:tr h="478641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100-250 members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US$200,000 per consortium</a:t>
                      </a:r>
                    </a:p>
                    <a:p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22,000,000</a:t>
                      </a:r>
                      <a:r>
                        <a:rPr kumimoji="1" lang="ja-JP" altLang="en-US" sz="12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580743"/>
                  </a:ext>
                </a:extLst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6480212" y="6079351"/>
            <a:ext cx="249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hlinkClick r:id="rId3"/>
              </a:rPr>
              <a:t>https://orcid.org/about/membership</a:t>
            </a:r>
            <a:endParaRPr kumimoji="1" lang="ja-JP" altLang="en-US" sz="1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8E96F9-A753-4E48-BBA7-1F90BB5E0F52}"/>
              </a:ext>
            </a:extLst>
          </p:cNvPr>
          <p:cNvSpPr txBox="1"/>
          <p:nvPr/>
        </p:nvSpPr>
        <p:spPr>
          <a:xfrm>
            <a:off x="4139952" y="2168860"/>
            <a:ext cx="2113079" cy="369332"/>
          </a:xfrm>
          <a:prstGeom prst="rect">
            <a:avLst/>
          </a:prstGeom>
          <a:noFill/>
          <a:ln w="38100">
            <a:solidFill>
              <a:srgbClr val="FA772E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東工大、</a:t>
            </a:r>
            <a:r>
              <a:rPr kumimoji="1" lang="en-US" altLang="ja-JP" dirty="0"/>
              <a:t>NIMS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NII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83450D-0907-42C4-B87D-A026B7E6F83B}"/>
              </a:ext>
            </a:extLst>
          </p:cNvPr>
          <p:cNvSpPr txBox="1"/>
          <p:nvPr/>
        </p:nvSpPr>
        <p:spPr>
          <a:xfrm>
            <a:off x="4139951" y="3471342"/>
            <a:ext cx="1569660" cy="369332"/>
          </a:xfrm>
          <a:prstGeom prst="rect">
            <a:avLst/>
          </a:prstGeom>
          <a:noFill/>
          <a:ln w="38100">
            <a:solidFill>
              <a:srgbClr val="FA772E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慶応、筑波大</a:t>
            </a:r>
          </a:p>
        </p:txBody>
      </p:sp>
    </p:spTree>
    <p:extLst>
      <p:ext uri="{BB962C8B-B14F-4D97-AF65-F5344CB8AC3E}">
        <p14:creationId xmlns:p14="http://schemas.microsoft.com/office/powerpoint/2010/main" val="40268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199" y="228600"/>
            <a:ext cx="8291263" cy="914400"/>
          </a:xfrm>
        </p:spPr>
        <p:txBody>
          <a:bodyPr>
            <a:noAutofit/>
          </a:bodyPr>
          <a:lstStyle/>
          <a:p>
            <a:r>
              <a:rPr lang="ja-JP" altLang="en-US" sz="3000" dirty="0"/>
              <a:t>機関メンバー会費（</a:t>
            </a:r>
            <a:r>
              <a:rPr lang="en-US" altLang="ja-JP" sz="3000" dirty="0"/>
              <a:t>2018</a:t>
            </a:r>
            <a:r>
              <a:rPr lang="ja-JP" altLang="en-US" sz="3000" dirty="0"/>
              <a:t>年～）</a:t>
            </a:r>
            <a:endParaRPr kumimoji="1" lang="ja-JP" altLang="en-US" sz="300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graphicFrame>
        <p:nvGraphicFramePr>
          <p:cNvPr id="7" name="コンテンツ プレースホルダー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2105182"/>
              </p:ext>
            </p:extLst>
          </p:nvPr>
        </p:nvGraphicFramePr>
        <p:xfrm>
          <a:off x="457200" y="1556793"/>
          <a:ext cx="8291263" cy="435648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468">
                  <a:extLst>
                    <a:ext uri="{9D8B030D-6E8A-4147-A177-3AD203B41FA5}">
                      <a16:colId xmlns:a16="http://schemas.microsoft.com/office/drawing/2014/main" val="797808354"/>
                    </a:ext>
                  </a:extLst>
                </a:gridCol>
                <a:gridCol w="4869126">
                  <a:extLst>
                    <a:ext uri="{9D8B030D-6E8A-4147-A177-3AD203B41FA5}">
                      <a16:colId xmlns:a16="http://schemas.microsoft.com/office/drawing/2014/main" val="4096571454"/>
                    </a:ext>
                  </a:extLst>
                </a:gridCol>
                <a:gridCol w="2295669">
                  <a:extLst>
                    <a:ext uri="{9D8B030D-6E8A-4147-A177-3AD203B41FA5}">
                      <a16:colId xmlns:a16="http://schemas.microsoft.com/office/drawing/2014/main" val="2675411023"/>
                    </a:ext>
                  </a:extLst>
                </a:gridCol>
              </a:tblGrid>
              <a:tr h="352098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年会費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306819"/>
                  </a:ext>
                </a:extLst>
              </a:tr>
              <a:tr h="352098">
                <a:tc rowSpan="2">
                  <a:txBody>
                    <a:bodyPr/>
                    <a:lstStyle/>
                    <a:p>
                      <a:r>
                        <a:rPr kumimoji="1" lang="en-US" altLang="ja-JP" sz="1400" dirty="0"/>
                        <a:t>Basic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Standard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US$5,150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570,000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35136"/>
                  </a:ext>
                </a:extLst>
              </a:tr>
              <a:tr h="35209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Non-profit</a:t>
                      </a:r>
                      <a:r>
                        <a:rPr kumimoji="1" lang="en-US" altLang="ja-JP" sz="1400" baseline="0" dirty="0"/>
                        <a:t> organizations (eligible for a 20% discount)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US$4,120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450,000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248896"/>
                  </a:ext>
                </a:extLst>
              </a:tr>
              <a:tr h="359144">
                <a:tc rowSpan="4">
                  <a:txBody>
                    <a:bodyPr/>
                    <a:lstStyle/>
                    <a:p>
                      <a:r>
                        <a:rPr kumimoji="1" lang="en-US" altLang="ja-JP" sz="1400" dirty="0"/>
                        <a:t>Premium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Small organizations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&lt;US$ 200M in annual revenue or grants</a:t>
                      </a:r>
                      <a:r>
                        <a:rPr kumimoji="1" lang="ja-JP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US$10,300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1,100,000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89694"/>
                  </a:ext>
                </a:extLst>
              </a:tr>
              <a:tr h="35209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Non-profit</a:t>
                      </a:r>
                      <a:r>
                        <a:rPr kumimoji="1" lang="en-US" altLang="ja-JP" sz="1400" baseline="0" dirty="0"/>
                        <a:t> organizations (</a:t>
                      </a:r>
                      <a:r>
                        <a:rPr kumimoji="1" lang="en-US" altLang="ja-JP" sz="1400" dirty="0"/>
                        <a:t>eligible</a:t>
                      </a:r>
                      <a:r>
                        <a:rPr kumimoji="1" lang="en-US" altLang="ja-JP" sz="1400" baseline="0" dirty="0"/>
                        <a:t> for a 20% discount)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US$8,240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900,000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829398"/>
                  </a:ext>
                </a:extLst>
              </a:tr>
              <a:tr h="35209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Large organizations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&gt;US$ 200M in annual revenue</a:t>
                      </a:r>
                      <a:r>
                        <a:rPr kumimoji="1" lang="en-US" altLang="ja-JP" sz="1400" baseline="0" dirty="0"/>
                        <a:t> or grants</a:t>
                      </a:r>
                      <a:r>
                        <a:rPr kumimoji="1" lang="ja-JP" altLang="en-US" sz="1400" baseline="0" dirty="0"/>
                        <a:t>）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US$25,750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2,750,000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52385"/>
                  </a:ext>
                </a:extLst>
              </a:tr>
              <a:tr h="35209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Non-profit</a:t>
                      </a:r>
                      <a:r>
                        <a:rPr kumimoji="1" lang="en-US" altLang="ja-JP" sz="1400" baseline="0" dirty="0"/>
                        <a:t> organizations (</a:t>
                      </a:r>
                      <a:r>
                        <a:rPr kumimoji="1" lang="en-US" altLang="ja-JP" sz="1400" dirty="0"/>
                        <a:t>eligible</a:t>
                      </a:r>
                      <a:r>
                        <a:rPr kumimoji="1" lang="en-US" altLang="ja-JP" sz="1400" baseline="0" dirty="0"/>
                        <a:t> for a 20% discount)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US$20,600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2,266,000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8788"/>
                  </a:ext>
                </a:extLst>
              </a:tr>
              <a:tr h="352098">
                <a:tc rowSpan="5">
                  <a:txBody>
                    <a:bodyPr/>
                    <a:lstStyle/>
                    <a:p>
                      <a:r>
                        <a:rPr kumimoji="1" lang="en-US" altLang="ja-JP" sz="1400" dirty="0"/>
                        <a:t>Premium Consortium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5-9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US$6,000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660,000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22067"/>
                  </a:ext>
                </a:extLst>
              </a:tr>
              <a:tr h="35209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10-19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US$5,000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550,000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961385"/>
                  </a:ext>
                </a:extLst>
              </a:tr>
              <a:tr h="35209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20-34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US$4,000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440,000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916210"/>
                  </a:ext>
                </a:extLst>
              </a:tr>
              <a:tr h="352098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35-60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US$3,500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385,000</a:t>
                      </a:r>
                      <a:r>
                        <a:rPr kumimoji="1" lang="ja-JP" altLang="en-US" sz="1400" dirty="0"/>
                        <a:t>円）</a:t>
                      </a:r>
                      <a:endParaRPr kumimoji="1" lang="en-US" altLang="ja-JP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100"/>
                  </a:ext>
                </a:extLst>
              </a:tr>
              <a:tr h="476363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61+ members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US$3,000</a:t>
                      </a:r>
                      <a:r>
                        <a:rPr kumimoji="1" lang="ja-JP" altLang="en-US" sz="1400" dirty="0"/>
                        <a:t>（</a:t>
                      </a:r>
                      <a:r>
                        <a:rPr kumimoji="1" lang="en-US" altLang="ja-JP" sz="1400" dirty="0"/>
                        <a:t>330,000</a:t>
                      </a:r>
                      <a:r>
                        <a:rPr kumimoji="1" lang="ja-JP" altLang="en-US" sz="1400" dirty="0"/>
                        <a:t>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580743"/>
                  </a:ext>
                </a:extLst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6336196" y="5895329"/>
            <a:ext cx="249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hlinkClick r:id="rId3"/>
              </a:rPr>
              <a:t>https://orcid.org/about/membership</a:t>
            </a:r>
            <a:endParaRPr kumimoji="1" lang="ja-JP" altLang="en-US" sz="12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623F2EF-482E-4A3C-A9AC-5FBE1A5C114D}"/>
              </a:ext>
            </a:extLst>
          </p:cNvPr>
          <p:cNvSpPr/>
          <p:nvPr/>
        </p:nvSpPr>
        <p:spPr>
          <a:xfrm>
            <a:off x="457199" y="4041068"/>
            <a:ext cx="8291263" cy="1854261"/>
          </a:xfrm>
          <a:prstGeom prst="rect">
            <a:avLst/>
          </a:prstGeom>
          <a:noFill/>
          <a:ln w="28575">
            <a:solidFill>
              <a:srgbClr val="FA77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883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JPCOAR</a:t>
            </a:r>
            <a:r>
              <a:rPr kumimoji="1" lang="ja-JP" altLang="en-US" dirty="0" smtClean="0"/>
              <a:t>研究者</a:t>
            </a:r>
            <a:r>
              <a:rPr kumimoji="1" lang="ja-JP" altLang="en-US" dirty="0"/>
              <a:t>情報連携</a:t>
            </a:r>
            <a:r>
              <a:rPr kumimoji="1" lang="en-US" altLang="ja-JP" dirty="0"/>
              <a:t>TF</a:t>
            </a:r>
            <a:r>
              <a:rPr kumimoji="1" lang="ja-JP" altLang="en-US" dirty="0"/>
              <a:t>の活動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ja-JP" altLang="en-US" dirty="0"/>
              <a:t>メンバー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北大、</a:t>
            </a:r>
            <a:r>
              <a:rPr kumimoji="1" lang="en-US" altLang="ja-JP" dirty="0"/>
              <a:t>NIMS</a:t>
            </a:r>
            <a:r>
              <a:rPr kumimoji="1" lang="ja-JP" altLang="en-US" dirty="0" err="1"/>
              <a:t>、</a:t>
            </a:r>
            <a:r>
              <a:rPr kumimoji="1" lang="ja-JP" altLang="en-US" dirty="0"/>
              <a:t>東大、中京大、京大、</a:t>
            </a:r>
            <a:r>
              <a:rPr kumimoji="1" lang="en-US" altLang="ja-JP" dirty="0"/>
              <a:t>OIST</a:t>
            </a:r>
            <a:r>
              <a:rPr kumimoji="1" lang="ja-JP" altLang="en-US" dirty="0" err="1"/>
              <a:t>、</a:t>
            </a:r>
            <a:r>
              <a:rPr kumimoji="1" lang="en-US" altLang="ja-JP" dirty="0"/>
              <a:t>NII</a:t>
            </a:r>
          </a:p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回ミーティング（</a:t>
            </a:r>
            <a:r>
              <a:rPr kumimoji="1" lang="en-US" altLang="ja-JP" dirty="0"/>
              <a:t>2017</a:t>
            </a:r>
            <a:r>
              <a:rPr kumimoji="1" lang="ja-JP" altLang="en-US" dirty="0"/>
              <a:t>年</a:t>
            </a:r>
            <a:r>
              <a:rPr kumimoji="1" lang="en-US" altLang="ja-JP" dirty="0"/>
              <a:t>7</a:t>
            </a:r>
            <a:r>
              <a:rPr kumimoji="1" lang="ja-JP" altLang="en-US" dirty="0"/>
              <a:t>月</a:t>
            </a:r>
            <a:r>
              <a:rPr kumimoji="1" lang="en-US" altLang="ja-JP" dirty="0"/>
              <a:t>5</a:t>
            </a:r>
            <a:r>
              <a:rPr kumimoji="1" lang="ja-JP" altLang="en-US" dirty="0"/>
              <a:t>日）</a:t>
            </a:r>
            <a:endParaRPr kumimoji="1" lang="en-US" altLang="ja-JP" dirty="0"/>
          </a:p>
          <a:p>
            <a:pPr lvl="1"/>
            <a:r>
              <a:rPr lang="en-US" altLang="ja-JP" dirty="0"/>
              <a:t>ORCID</a:t>
            </a:r>
            <a:r>
              <a:rPr lang="ja-JP" altLang="en-US" dirty="0"/>
              <a:t>アジアパシフィックの地域ディレクターである宮入氏より、</a:t>
            </a:r>
            <a:r>
              <a:rPr lang="en-US" altLang="ja-JP" dirty="0"/>
              <a:t>ORCID</a:t>
            </a:r>
            <a:r>
              <a:rPr lang="ja-JP" altLang="en-US" dirty="0"/>
              <a:t>の概要と海外のコンソーシアム事情について説明を受ける</a:t>
            </a:r>
            <a:endParaRPr lang="en-US" altLang="ja-JP" dirty="0"/>
          </a:p>
          <a:p>
            <a:pPr lvl="1"/>
            <a:r>
              <a:rPr kumimoji="1" lang="ja-JP" altLang="en-US" dirty="0"/>
              <a:t>今後は、国内外の事例を調査し、</a:t>
            </a:r>
            <a:r>
              <a:rPr kumimoji="1" lang="en-US" altLang="ja-JP" dirty="0"/>
              <a:t>ORCID</a:t>
            </a:r>
            <a:r>
              <a:rPr kumimoji="1" lang="ja-JP" altLang="en-US" dirty="0"/>
              <a:t>導入を進めながら、コンソーシアム設立を検討していく</a:t>
            </a:r>
          </a:p>
        </p:txBody>
      </p:sp>
    </p:spTree>
    <p:extLst>
      <p:ext uri="{BB962C8B-B14F-4D97-AF65-F5344CB8AC3E}">
        <p14:creationId xmlns:p14="http://schemas.microsoft.com/office/powerpoint/2010/main" val="366408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学協会コンソーシアム設立に向けた動き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altLang="ja-JP" dirty="0"/>
              <a:t>UniBio Press</a:t>
            </a:r>
            <a:r>
              <a:rPr lang="ja-JP" altLang="en-US" dirty="0"/>
              <a:t>（＝日本動物学会事務局長）を中心に、コンソーシアム設立に向けた動きあり</a:t>
            </a:r>
            <a:endParaRPr lang="en-US" altLang="ja-JP" dirty="0"/>
          </a:p>
          <a:p>
            <a:pPr algn="just"/>
            <a:r>
              <a:rPr lang="en-US" altLang="ja-JP" dirty="0"/>
              <a:t>ORCID</a:t>
            </a:r>
            <a:r>
              <a:rPr lang="ja-JP" altLang="en-US" dirty="0"/>
              <a:t>学協会コンソーシアム検討会をこれまでに</a:t>
            </a:r>
            <a:r>
              <a:rPr lang="en-US" altLang="ja-JP" dirty="0"/>
              <a:t>4</a:t>
            </a:r>
            <a:r>
              <a:rPr lang="ja-JP" altLang="en-US" dirty="0"/>
              <a:t>回開催</a:t>
            </a:r>
            <a:endParaRPr lang="en-US" altLang="ja-JP" dirty="0"/>
          </a:p>
          <a:p>
            <a:pPr algn="just"/>
            <a:r>
              <a:rPr lang="ja-JP" altLang="en-US" dirty="0"/>
              <a:t>技術サポートは民間会社に外注</a:t>
            </a:r>
            <a:endParaRPr lang="en-US" altLang="ja-JP" dirty="0"/>
          </a:p>
          <a:p>
            <a:pPr algn="just"/>
            <a:r>
              <a:rPr lang="ja-JP" altLang="en-US" dirty="0">
                <a:latin typeface="メイリオ" panose="020B0604030504040204" pitchFamily="50" charset="-128"/>
                <a:cs typeface="メイリオ" panose="020B0604030504040204" pitchFamily="50" charset="-128"/>
              </a:rPr>
              <a:t>科研費「国際情報発信強化</a:t>
            </a:r>
            <a:r>
              <a:rPr lang="en-US" altLang="ja-JP" dirty="0">
                <a:latin typeface="メイリオ" panose="020B0604030504040204" pitchFamily="50" charset="-128"/>
                <a:cs typeface="メイリオ" panose="020B0604030504040204" pitchFamily="50" charset="-128"/>
              </a:rPr>
              <a:t>A</a:t>
            </a:r>
            <a:r>
              <a:rPr lang="ja-JP" altLang="en-US" dirty="0">
                <a:latin typeface="メイリオ" panose="020B0604030504040204" pitchFamily="50" charset="-128"/>
                <a:cs typeface="メイリオ" panose="020B0604030504040204" pitchFamily="50" charset="-128"/>
              </a:rPr>
              <a:t>」の申請を計画中（会費及び技術サポート費に充当）</a:t>
            </a:r>
            <a:endParaRPr lang="en-US" altLang="ja-JP" dirty="0">
              <a:latin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/>
            <a:r>
              <a:rPr lang="en-US" altLang="ja-JP" dirty="0"/>
              <a:t>9</a:t>
            </a:r>
            <a:r>
              <a:rPr lang="ja-JP" altLang="en-US" dirty="0"/>
              <a:t>月</a:t>
            </a:r>
            <a:r>
              <a:rPr lang="en-US" altLang="ja-JP" dirty="0"/>
              <a:t>8</a:t>
            </a:r>
            <a:r>
              <a:rPr lang="ja-JP" altLang="en-US" dirty="0"/>
              <a:t>日に、公開シンポジウム「</a:t>
            </a:r>
            <a:r>
              <a:rPr lang="en-US" altLang="ja-JP" dirty="0"/>
              <a:t>ORCID </a:t>
            </a:r>
            <a:r>
              <a:rPr lang="ja-JP" altLang="en-US" dirty="0"/>
              <a:t>我が国の学術情報、研究者 </a:t>
            </a:r>
            <a:r>
              <a:rPr lang="en-US" altLang="ja-JP" dirty="0"/>
              <a:t>- </a:t>
            </a:r>
            <a:r>
              <a:rPr lang="ja-JP" altLang="en-US" dirty="0"/>
              <a:t>情報発信強化を目指して」を開催</a:t>
            </a:r>
            <a:endParaRPr lang="ja-JP" altLang="en-US" dirty="0">
              <a:latin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just"/>
            <a:endParaRPr lang="en-US" altLang="ja-JP" dirty="0"/>
          </a:p>
          <a:p>
            <a:pPr algn="just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656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公開シンポジウム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354" y="1232756"/>
            <a:ext cx="6628732" cy="482030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065534" y="6053061"/>
            <a:ext cx="3418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http://www.unibiopress.org/event/2017/0908.html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8696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C368D1-9282-4496-9773-67669691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理念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457D6B-AC54-467E-9EF8-346C6554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1EB049-4DBD-4B87-93BD-2E1709A6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4F40B97-94B3-45D3-BAEC-6A5B5A6AD50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3780420"/>
          </a:xfrm>
        </p:spPr>
        <p:txBody>
          <a:bodyPr>
            <a:normAutofit/>
          </a:bodyPr>
          <a:lstStyle/>
          <a:p>
            <a:r>
              <a:rPr kumimoji="1" lang="en-US" altLang="ja-JP" dirty="0" smtClean="0"/>
              <a:t>ORCID</a:t>
            </a:r>
            <a:r>
              <a:rPr kumimoji="1" lang="ja-JP" altLang="en-US" dirty="0"/>
              <a:t>の会費は、サービスに対する対価ではない</a:t>
            </a:r>
            <a:endParaRPr kumimoji="1" lang="en-US" altLang="ja-JP" dirty="0"/>
          </a:p>
          <a:p>
            <a:r>
              <a:rPr kumimoji="1" lang="ja-JP" altLang="en-US" dirty="0"/>
              <a:t>機関が会費により</a:t>
            </a:r>
            <a:r>
              <a:rPr lang="ja-JP" altLang="en-US" dirty="0"/>
              <a:t>コストを負担しないと、</a:t>
            </a:r>
            <a:r>
              <a:rPr lang="en-US" altLang="ja-JP" dirty="0"/>
              <a:t>ORCID</a:t>
            </a:r>
            <a:r>
              <a:rPr lang="ja-JP" altLang="en-US" dirty="0"/>
              <a:t>というシステムは消滅する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endParaRPr lang="en-US" altLang="ja-JP" dirty="0" smtClean="0">
              <a:solidFill>
                <a:srgbClr val="FA772E"/>
              </a:solidFill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rgbClr val="FA772E"/>
                </a:solidFill>
              </a:rPr>
              <a:t>　だから</a:t>
            </a:r>
            <a:r>
              <a:rPr lang="ja-JP" altLang="en-US" dirty="0" smtClean="0">
                <a:solidFill>
                  <a:srgbClr val="FA772E"/>
                </a:solidFill>
              </a:rPr>
              <a:t>、コンソーシアム</a:t>
            </a:r>
            <a:r>
              <a:rPr lang="ja-JP" altLang="en-US" dirty="0">
                <a:solidFill>
                  <a:srgbClr val="FA772E"/>
                </a:solidFill>
              </a:rPr>
              <a:t>を作り、機関メンバーを増</a:t>
            </a:r>
            <a:endParaRPr lang="en-US" altLang="ja-JP" dirty="0">
              <a:solidFill>
                <a:srgbClr val="FA772E"/>
              </a:solidFill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rgbClr val="FA772E"/>
                </a:solidFill>
              </a:rPr>
              <a:t>　</a:t>
            </a:r>
            <a:r>
              <a:rPr lang="ja-JP" altLang="en-US" dirty="0" smtClean="0">
                <a:solidFill>
                  <a:srgbClr val="FA772E"/>
                </a:solidFill>
              </a:rPr>
              <a:t>やし、</a:t>
            </a:r>
            <a:r>
              <a:rPr lang="en-US" altLang="ja-JP" dirty="0" smtClean="0">
                <a:solidFill>
                  <a:srgbClr val="FA772E"/>
                </a:solidFill>
              </a:rPr>
              <a:t>ORCID</a:t>
            </a:r>
            <a:r>
              <a:rPr lang="ja-JP" altLang="en-US" dirty="0" smtClean="0">
                <a:solidFill>
                  <a:srgbClr val="FA772E"/>
                </a:solidFill>
              </a:rPr>
              <a:t>を支える必要がある</a:t>
            </a:r>
            <a:endParaRPr lang="en-US" altLang="ja-JP" dirty="0" smtClean="0">
              <a:solidFill>
                <a:srgbClr val="FA772E"/>
              </a:solidFill>
            </a:endParaRPr>
          </a:p>
          <a:p>
            <a:pPr marL="0" indent="0">
              <a:buNone/>
            </a:pPr>
            <a:endParaRPr lang="en-US" altLang="ja-JP" dirty="0">
              <a:solidFill>
                <a:srgbClr val="FA772E"/>
              </a:solidFill>
            </a:endParaRPr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222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432D35-7E61-419B-9A5C-47F59BCC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smtClean="0"/>
              <a:t>3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リスク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B1ED195-720A-4246-A9F3-E2C310A9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476E6E-68AF-4C58-8820-BC4BA52D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41866EC-73F8-4A38-A673-3B617124D26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7524" y="1268760"/>
            <a:ext cx="8640960" cy="4888200"/>
          </a:xfrm>
        </p:spPr>
        <p:txBody>
          <a:bodyPr>
            <a:normAutofit/>
          </a:bodyPr>
          <a:lstStyle/>
          <a:p>
            <a:pPr algn="just"/>
            <a:r>
              <a:rPr lang="en-US" altLang="ja-JP" dirty="0" smtClean="0"/>
              <a:t>ORCID</a:t>
            </a:r>
            <a:r>
              <a:rPr lang="ja-JP" altLang="en-US" dirty="0" smtClean="0"/>
              <a:t>の意思決定に発言権を持てないリスク</a:t>
            </a:r>
            <a:endParaRPr lang="en-US" altLang="ja-JP" dirty="0" smtClean="0"/>
          </a:p>
          <a:p>
            <a:pPr lvl="1" algn="just"/>
            <a:r>
              <a:rPr lang="en-US" altLang="ja-JP" dirty="0"/>
              <a:t>ORCID</a:t>
            </a:r>
            <a:r>
              <a:rPr lang="ja-JP" altLang="en-US" dirty="0" smtClean="0"/>
              <a:t>は研究者識別子</a:t>
            </a:r>
            <a:r>
              <a:rPr lang="ja-JP" altLang="en-US" dirty="0"/>
              <a:t>の</a:t>
            </a:r>
            <a:r>
              <a:rPr lang="ja-JP" altLang="en-US" dirty="0" smtClean="0"/>
              <a:t>デファクトスタンダード</a:t>
            </a:r>
            <a:endParaRPr lang="en-US" altLang="ja-JP" dirty="0"/>
          </a:p>
          <a:p>
            <a:pPr lvl="1" algn="just"/>
            <a:r>
              <a:rPr lang="ja-JP" altLang="en-US" dirty="0"/>
              <a:t>一極集中型の</a:t>
            </a:r>
            <a:r>
              <a:rPr lang="ja-JP" altLang="en-US" dirty="0" smtClean="0"/>
              <a:t>仕組み</a:t>
            </a:r>
            <a:endParaRPr lang="en-US" altLang="ja-JP" dirty="0" smtClean="0"/>
          </a:p>
          <a:p>
            <a:pPr lvl="1" algn="just"/>
            <a:r>
              <a:rPr lang="ja-JP" altLang="en-US" dirty="0" smtClean="0"/>
              <a:t>海外の学術機関や大手出版社による偏った運営</a:t>
            </a:r>
            <a:endParaRPr lang="en-US" altLang="ja-JP" dirty="0" smtClean="0"/>
          </a:p>
          <a:p>
            <a:pPr algn="just"/>
            <a:r>
              <a:rPr lang="ja-JP" altLang="en-US" dirty="0" smtClean="0"/>
              <a:t>日本はフリーライダーだという批判が起こるリスク</a:t>
            </a:r>
            <a:endParaRPr lang="en-US" altLang="ja-JP" dirty="0" smtClean="0"/>
          </a:p>
          <a:p>
            <a:pPr lvl="1" algn="just"/>
            <a:r>
              <a:rPr lang="ja-JP" altLang="en-US" dirty="0" smtClean="0"/>
              <a:t>日本：</a:t>
            </a:r>
            <a:r>
              <a:rPr lang="en-US" altLang="ja-JP" dirty="0" smtClean="0"/>
              <a:t>iD</a:t>
            </a:r>
            <a:r>
              <a:rPr lang="ja-JP" altLang="en-US" dirty="0" smtClean="0"/>
              <a:t>取得者＝</a:t>
            </a:r>
            <a:r>
              <a:rPr lang="en-US" altLang="ja-JP" dirty="0" smtClean="0"/>
              <a:t>6</a:t>
            </a:r>
            <a:r>
              <a:rPr lang="ja-JP" altLang="en-US" dirty="0" smtClean="0"/>
              <a:t>万、機関メンバー＝</a:t>
            </a:r>
            <a:r>
              <a:rPr lang="en-US" altLang="ja-JP" dirty="0" smtClean="0"/>
              <a:t>10</a:t>
            </a:r>
            <a:r>
              <a:rPr lang="ja-JP" altLang="en-US" dirty="0" smtClean="0"/>
              <a:t>（内、学術機関</a:t>
            </a:r>
            <a:r>
              <a:rPr lang="en-US" altLang="ja-JP" dirty="0" smtClean="0"/>
              <a:t>5</a:t>
            </a:r>
            <a:r>
              <a:rPr lang="ja-JP" altLang="en-US" dirty="0" smtClean="0"/>
              <a:t>）</a:t>
            </a:r>
            <a:endParaRPr lang="en-US" altLang="ja-JP" dirty="0" smtClean="0"/>
          </a:p>
          <a:p>
            <a:pPr lvl="1" algn="just"/>
            <a:r>
              <a:rPr lang="ja-JP" altLang="en-US" dirty="0" smtClean="0"/>
              <a:t>豪　：</a:t>
            </a:r>
            <a:r>
              <a:rPr lang="en-US" altLang="ja-JP" dirty="0" smtClean="0"/>
              <a:t>iD</a:t>
            </a:r>
            <a:r>
              <a:rPr lang="ja-JP" altLang="en-US" dirty="0" smtClean="0"/>
              <a:t>取得者＝</a:t>
            </a:r>
            <a:r>
              <a:rPr lang="en-US" altLang="ja-JP" dirty="0" smtClean="0"/>
              <a:t>6</a:t>
            </a:r>
            <a:r>
              <a:rPr lang="ja-JP" altLang="en-US" dirty="0" smtClean="0"/>
              <a:t>万、機関メンバー＝</a:t>
            </a:r>
            <a:r>
              <a:rPr lang="en-US" altLang="ja-JP" dirty="0" smtClean="0"/>
              <a:t>44</a:t>
            </a:r>
          </a:p>
          <a:p>
            <a:pPr algn="just"/>
            <a:r>
              <a:rPr lang="ja-JP" altLang="en-US" dirty="0" smtClean="0"/>
              <a:t>アジアパシフィックのリージョナルディレクタが中国スタッフのみになるリスク</a:t>
            </a:r>
            <a:endParaRPr lang="en-US" altLang="ja-JP" dirty="0" smtClean="0"/>
          </a:p>
          <a:p>
            <a:pPr lvl="1" algn="just"/>
            <a:r>
              <a:rPr lang="ja-JP" altLang="en-US" dirty="0" smtClean="0"/>
              <a:t>日本語によるサポートが得られない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730282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コンソーシアムのメリット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ja-JP" altLang="en-US" dirty="0"/>
              <a:t>スケールメリットにより、会費が下がる</a:t>
            </a:r>
            <a:endParaRPr kumimoji="1" lang="en-US" altLang="ja-JP" dirty="0"/>
          </a:p>
          <a:p>
            <a:r>
              <a:rPr lang="ja-JP" altLang="en-US" dirty="0"/>
              <a:t>ノウハウの蓄積と共有により、全体コストを低減</a:t>
            </a:r>
            <a:endParaRPr lang="en-US" altLang="ja-JP" dirty="0"/>
          </a:p>
          <a:p>
            <a:r>
              <a:rPr kumimoji="1" lang="en-US" altLang="ja-JP" dirty="0"/>
              <a:t>ORCID</a:t>
            </a:r>
            <a:r>
              <a:rPr kumimoji="1" lang="ja-JP" altLang="en-US" dirty="0"/>
              <a:t>の運営に関与できる（理事の推薦など）</a:t>
            </a:r>
            <a:endParaRPr kumimoji="1" lang="en-US" altLang="ja-JP" dirty="0"/>
          </a:p>
          <a:p>
            <a:r>
              <a:rPr lang="ja-JP" altLang="en-US" dirty="0"/>
              <a:t>関係機関への働きかけ（例えば、</a:t>
            </a:r>
            <a:r>
              <a:rPr lang="en-US" altLang="ja-JP" dirty="0"/>
              <a:t>JaLC</a:t>
            </a:r>
            <a:r>
              <a:rPr lang="ja-JP" altLang="en-US" dirty="0"/>
              <a:t>による</a:t>
            </a:r>
            <a:r>
              <a:rPr lang="en-US" altLang="ja-JP" dirty="0"/>
              <a:t>ORCID</a:t>
            </a:r>
            <a:r>
              <a:rPr lang="ja-JP" altLang="en-US" dirty="0"/>
              <a:t>レコードの自動更新など）</a:t>
            </a:r>
            <a:endParaRPr lang="en-US" altLang="ja-JP" dirty="0"/>
          </a:p>
          <a:p>
            <a:r>
              <a:rPr kumimoji="1" lang="en-US" altLang="ja-JP" dirty="0">
                <a:solidFill>
                  <a:srgbClr val="FA772E"/>
                </a:solidFill>
              </a:rPr>
              <a:t>5</a:t>
            </a:r>
            <a:r>
              <a:rPr kumimoji="1" lang="ja-JP" altLang="en-US" dirty="0">
                <a:solidFill>
                  <a:srgbClr val="FA772E"/>
                </a:solidFill>
              </a:rPr>
              <a:t>つの</a:t>
            </a:r>
            <a:r>
              <a:rPr kumimoji="1" lang="en-US" altLang="ja-JP" dirty="0">
                <a:solidFill>
                  <a:srgbClr val="FA772E"/>
                </a:solidFill>
              </a:rPr>
              <a:t>credentials</a:t>
            </a:r>
            <a:r>
              <a:rPr kumimoji="1" lang="ja-JP" altLang="en-US" dirty="0">
                <a:solidFill>
                  <a:srgbClr val="FA772E"/>
                </a:solidFill>
              </a:rPr>
              <a:t>（</a:t>
            </a:r>
            <a:r>
              <a:rPr kumimoji="1" lang="en-US" altLang="ja-JP" dirty="0">
                <a:solidFill>
                  <a:srgbClr val="FA772E"/>
                </a:solidFill>
              </a:rPr>
              <a:t>API</a:t>
            </a:r>
            <a:r>
              <a:rPr kumimoji="1" lang="ja-JP" altLang="en-US" dirty="0">
                <a:solidFill>
                  <a:srgbClr val="FA772E"/>
                </a:solidFill>
              </a:rPr>
              <a:t>）が使用可</a:t>
            </a:r>
            <a:endParaRPr kumimoji="1" lang="en-US" altLang="ja-JP" dirty="0">
              <a:solidFill>
                <a:srgbClr val="FA772E"/>
              </a:solidFill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rgbClr val="FA772E"/>
                </a:solidFill>
              </a:rPr>
              <a:t>　→コンソーシアム会員機関が共通で使える</a:t>
            </a:r>
            <a:r>
              <a:rPr lang="en-US" altLang="ja-JP" dirty="0">
                <a:solidFill>
                  <a:srgbClr val="FA772E"/>
                </a:solidFill>
              </a:rPr>
              <a:t>API</a:t>
            </a:r>
            <a:r>
              <a:rPr lang="ja-JP" altLang="en-US" dirty="0">
                <a:solidFill>
                  <a:srgbClr val="FA772E"/>
                </a:solidFill>
              </a:rPr>
              <a:t>アプリ</a:t>
            </a:r>
            <a:endParaRPr lang="en-US" altLang="ja-JP" dirty="0">
              <a:solidFill>
                <a:srgbClr val="FA772E"/>
              </a:solidFill>
            </a:endParaRPr>
          </a:p>
          <a:p>
            <a:pPr marL="0" indent="0">
              <a:buNone/>
            </a:pPr>
            <a:r>
              <a:rPr kumimoji="1" lang="ja-JP" altLang="en-US" dirty="0">
                <a:solidFill>
                  <a:srgbClr val="FA772E"/>
                </a:solidFill>
              </a:rPr>
              <a:t>　→各機関が</a:t>
            </a:r>
            <a:r>
              <a:rPr kumimoji="1" lang="en-US" altLang="ja-JP" dirty="0">
                <a:solidFill>
                  <a:srgbClr val="FA772E"/>
                </a:solidFill>
              </a:rPr>
              <a:t>API</a:t>
            </a:r>
            <a:r>
              <a:rPr kumimoji="1" lang="ja-JP" altLang="en-US" dirty="0">
                <a:solidFill>
                  <a:srgbClr val="FA772E"/>
                </a:solidFill>
              </a:rPr>
              <a:t>を活用するためのツールキット</a:t>
            </a:r>
          </a:p>
        </p:txBody>
      </p:sp>
    </p:spTree>
    <p:extLst>
      <p:ext uri="{BB962C8B-B14F-4D97-AF65-F5344CB8AC3E}">
        <p14:creationId xmlns:p14="http://schemas.microsoft.com/office/powerpoint/2010/main" val="1000388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（参考）コンソーシアム設置形態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単一型</a:t>
            </a:r>
            <a:endParaRPr lang="en-US" altLang="ja-JP" dirty="0"/>
          </a:p>
          <a:p>
            <a:pPr lvl="1"/>
            <a:r>
              <a:rPr lang="ja-JP" altLang="en-US" dirty="0"/>
              <a:t>学術機関と学協会を一体化した国内統一コンソーシアムを設置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○スケールメリットにより会費単価の引き下げが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　可能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en-US" altLang="ja-JP" dirty="0"/>
              <a:t>×</a:t>
            </a:r>
            <a:r>
              <a:rPr lang="ja-JP" altLang="en-US" dirty="0"/>
              <a:t>目的や課題を異にする</a:t>
            </a:r>
            <a:r>
              <a:rPr lang="en-US" altLang="ja-JP" dirty="0"/>
              <a:t>2</a:t>
            </a:r>
            <a:r>
              <a:rPr lang="ja-JP" altLang="en-US" dirty="0" err="1"/>
              <a:t>つの</a:t>
            </a:r>
            <a:r>
              <a:rPr lang="ja-JP" altLang="en-US" dirty="0"/>
              <a:t>団体を一体として運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　</a:t>
            </a:r>
            <a:r>
              <a:rPr lang="ja-JP" altLang="en-US" dirty="0" err="1"/>
              <a:t>営する</a:t>
            </a:r>
            <a:r>
              <a:rPr lang="ja-JP" altLang="en-US" dirty="0"/>
              <a:t>ことが困難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分離型</a:t>
            </a:r>
            <a:endParaRPr lang="en-US" altLang="ja-JP" dirty="0"/>
          </a:p>
          <a:p>
            <a:pPr lvl="1"/>
            <a:r>
              <a:rPr lang="ja-JP" altLang="en-US" dirty="0"/>
              <a:t>学術機関と学協会の</a:t>
            </a:r>
            <a:r>
              <a:rPr lang="en-US" altLang="ja-JP" dirty="0"/>
              <a:t>2</a:t>
            </a:r>
            <a:r>
              <a:rPr lang="ja-JP" altLang="en-US" dirty="0" err="1"/>
              <a:t>つの</a:t>
            </a:r>
            <a:r>
              <a:rPr lang="ja-JP" altLang="en-US" dirty="0"/>
              <a:t>コンソーシアムを独立して設置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○それぞれの目的や課題に応じたコンソーシアム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　の運営が可能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en-US" altLang="ja-JP" dirty="0"/>
              <a:t>×</a:t>
            </a:r>
            <a:r>
              <a:rPr lang="ja-JP" altLang="en-US" dirty="0"/>
              <a:t>スケールメリットが活かせない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分離連携型</a:t>
            </a:r>
            <a:endParaRPr lang="en-US" altLang="ja-JP" dirty="0"/>
          </a:p>
          <a:p>
            <a:pPr lvl="1"/>
            <a:r>
              <a:rPr lang="ja-JP" altLang="en-US" dirty="0"/>
              <a:t>学術機関と学協会を分離したコンソーシアムを設置</a:t>
            </a:r>
            <a:endParaRPr lang="en-US" altLang="ja-JP" dirty="0"/>
          </a:p>
          <a:p>
            <a:pPr lvl="1"/>
            <a:r>
              <a:rPr lang="ja-JP" altLang="en-US" dirty="0"/>
              <a:t>その上に仮想的な国内統一コンソーシアムを設置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○スケールメリットを活かしつつ、それぞれの団体の目的や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　　課題に応じた運営が可能</a:t>
            </a:r>
          </a:p>
        </p:txBody>
      </p:sp>
    </p:spTree>
    <p:extLst>
      <p:ext uri="{BB962C8B-B14F-4D97-AF65-F5344CB8AC3E}">
        <p14:creationId xmlns:p14="http://schemas.microsoft.com/office/powerpoint/2010/main" val="563892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タイトル 38"/>
          <p:cNvSpPr>
            <a:spLocks noGrp="1"/>
          </p:cNvSpPr>
          <p:nvPr>
            <p:ph type="title"/>
          </p:nvPr>
        </p:nvSpPr>
        <p:spPr>
          <a:xfrm>
            <a:off x="154237" y="228600"/>
            <a:ext cx="8738243" cy="914400"/>
          </a:xfrm>
        </p:spPr>
        <p:txBody>
          <a:bodyPr>
            <a:normAutofit/>
          </a:bodyPr>
          <a:lstStyle/>
          <a:p>
            <a:r>
              <a:rPr lang="ja-JP" altLang="en-US" sz="3000" dirty="0" smtClean="0">
                <a:latin typeface="メイリオ" panose="020B0604030504040204" pitchFamily="50" charset="-128"/>
                <a:cs typeface="メイリオ" panose="020B0604030504040204" pitchFamily="50" charset="-128"/>
              </a:rPr>
              <a:t>（参考）</a:t>
            </a:r>
            <a:r>
              <a:rPr lang="en-US" altLang="ja-JP" sz="3000" dirty="0" smtClean="0">
                <a:latin typeface="メイリオ" panose="020B0604030504040204" pitchFamily="50" charset="-128"/>
                <a:cs typeface="メイリオ" panose="020B0604030504040204" pitchFamily="50" charset="-128"/>
              </a:rPr>
              <a:t>ORCID</a:t>
            </a:r>
            <a:r>
              <a:rPr lang="ja-JP" altLang="en-US" sz="3000" dirty="0">
                <a:latin typeface="メイリオ" panose="020B0604030504040204" pitchFamily="50" charset="-128"/>
                <a:cs typeface="メイリオ" panose="020B0604030504040204" pitchFamily="50" charset="-128"/>
              </a:rPr>
              <a:t>国内コンソーシアムの設置</a:t>
            </a:r>
            <a:r>
              <a:rPr lang="ja-JP" altLang="en-US" sz="3000" dirty="0" smtClean="0">
                <a:latin typeface="メイリオ" panose="020B0604030504040204" pitchFamily="50" charset="-128"/>
                <a:cs typeface="メイリオ" panose="020B0604030504040204" pitchFamily="50" charset="-128"/>
              </a:rPr>
              <a:t>形態</a:t>
            </a:r>
            <a:endParaRPr kumimoji="1" lang="ja-JP" altLang="en-US" sz="300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3503698" y="2396730"/>
            <a:ext cx="2172614" cy="9448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ジャパン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コンソーシアム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en-US" altLang="ja-JP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仮想）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41" name="図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802" y="1247893"/>
            <a:ext cx="1778405" cy="546224"/>
          </a:xfrm>
          <a:prstGeom prst="rect">
            <a:avLst/>
          </a:prstGeom>
        </p:spPr>
      </p:pic>
      <p:sp>
        <p:nvSpPr>
          <p:cNvPr id="42" name="正方形/長方形 41"/>
          <p:cNvSpPr/>
          <p:nvPr/>
        </p:nvSpPr>
        <p:spPr>
          <a:xfrm>
            <a:off x="1853327" y="3975257"/>
            <a:ext cx="1922279" cy="9448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学術機関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コンソーシアム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5252656" y="3980421"/>
            <a:ext cx="1961005" cy="9345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学協会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6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コンソーシアム</a:t>
            </a:r>
            <a:endParaRPr kumimoji="1" lang="en-US" altLang="ja-JP" sz="16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4" name="角丸四角形 43"/>
          <p:cNvSpPr/>
          <p:nvPr/>
        </p:nvSpPr>
        <p:spPr>
          <a:xfrm>
            <a:off x="176153" y="5216707"/>
            <a:ext cx="743714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筑波</a:t>
            </a:r>
          </a:p>
        </p:txBody>
      </p:sp>
      <p:sp>
        <p:nvSpPr>
          <p:cNvPr id="45" name="角丸四角形 44"/>
          <p:cNvSpPr/>
          <p:nvPr/>
        </p:nvSpPr>
        <p:spPr>
          <a:xfrm>
            <a:off x="1008039" y="5216707"/>
            <a:ext cx="743714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慶応</a:t>
            </a:r>
          </a:p>
        </p:txBody>
      </p:sp>
      <p:sp>
        <p:nvSpPr>
          <p:cNvPr id="46" name="角丸四角形 45"/>
          <p:cNvSpPr/>
          <p:nvPr/>
        </p:nvSpPr>
        <p:spPr>
          <a:xfrm>
            <a:off x="1853328" y="5216707"/>
            <a:ext cx="743715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東工大</a:t>
            </a:r>
          </a:p>
        </p:txBody>
      </p:sp>
      <p:sp>
        <p:nvSpPr>
          <p:cNvPr id="47" name="角丸四角形 46"/>
          <p:cNvSpPr/>
          <p:nvPr/>
        </p:nvSpPr>
        <p:spPr>
          <a:xfrm>
            <a:off x="2689300" y="5214584"/>
            <a:ext cx="743714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NIMS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3514685" y="5214584"/>
            <a:ext cx="746150" cy="43341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NII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154237" y="5799791"/>
            <a:ext cx="746150" cy="42428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0" name="角丸四角形 49"/>
          <p:cNvSpPr/>
          <p:nvPr/>
        </p:nvSpPr>
        <p:spPr>
          <a:xfrm>
            <a:off x="5303237" y="5228608"/>
            <a:ext cx="746150" cy="4242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941314" y="58547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6214626" y="527866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cxnSp>
        <p:nvCxnSpPr>
          <p:cNvPr id="53" name="直線コネクタ 52"/>
          <p:cNvCxnSpPr>
            <a:stCxn id="42" idx="2"/>
            <a:endCxn id="44" idx="0"/>
          </p:cNvCxnSpPr>
          <p:nvPr/>
        </p:nvCxnSpPr>
        <p:spPr>
          <a:xfrm flipH="1">
            <a:off x="548010" y="4920136"/>
            <a:ext cx="2266457" cy="296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>
            <a:stCxn id="42" idx="2"/>
            <a:endCxn id="45" idx="0"/>
          </p:cNvCxnSpPr>
          <p:nvPr/>
        </p:nvCxnSpPr>
        <p:spPr>
          <a:xfrm flipH="1">
            <a:off x="1379896" y="4920136"/>
            <a:ext cx="1434571" cy="296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>
            <a:stCxn id="42" idx="2"/>
            <a:endCxn id="46" idx="0"/>
          </p:cNvCxnSpPr>
          <p:nvPr/>
        </p:nvCxnSpPr>
        <p:spPr>
          <a:xfrm flipH="1">
            <a:off x="2225186" y="4920136"/>
            <a:ext cx="589281" cy="296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>
            <a:stCxn id="42" idx="2"/>
            <a:endCxn id="47" idx="0"/>
          </p:cNvCxnSpPr>
          <p:nvPr/>
        </p:nvCxnSpPr>
        <p:spPr>
          <a:xfrm>
            <a:off x="2814467" y="4920136"/>
            <a:ext cx="246690" cy="294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/>
          <p:cNvCxnSpPr>
            <a:stCxn id="42" idx="2"/>
            <a:endCxn id="48" idx="0"/>
          </p:cNvCxnSpPr>
          <p:nvPr/>
        </p:nvCxnSpPr>
        <p:spPr>
          <a:xfrm>
            <a:off x="2814467" y="4920136"/>
            <a:ext cx="1073293" cy="294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>
            <a:stCxn id="43" idx="2"/>
            <a:endCxn id="50" idx="0"/>
          </p:cNvCxnSpPr>
          <p:nvPr/>
        </p:nvCxnSpPr>
        <p:spPr>
          <a:xfrm flipH="1">
            <a:off x="5676312" y="4914970"/>
            <a:ext cx="556847" cy="31363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直線コネクタ 58"/>
          <p:cNvCxnSpPr>
            <a:stCxn id="40" idx="0"/>
          </p:cNvCxnSpPr>
          <p:nvPr/>
        </p:nvCxnSpPr>
        <p:spPr>
          <a:xfrm flipV="1">
            <a:off x="4590005" y="1932487"/>
            <a:ext cx="0" cy="4642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コネクタ 59"/>
          <p:cNvCxnSpPr>
            <a:stCxn id="40" idx="2"/>
          </p:cNvCxnSpPr>
          <p:nvPr/>
        </p:nvCxnSpPr>
        <p:spPr>
          <a:xfrm>
            <a:off x="4590005" y="3341609"/>
            <a:ext cx="0" cy="2587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2814467" y="3600351"/>
            <a:ext cx="34186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コネクタ 61"/>
          <p:cNvCxnSpPr>
            <a:stCxn id="42" idx="0"/>
          </p:cNvCxnSpPr>
          <p:nvPr/>
        </p:nvCxnSpPr>
        <p:spPr>
          <a:xfrm flipV="1">
            <a:off x="2814467" y="3595185"/>
            <a:ext cx="0" cy="380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コネクタ 62"/>
          <p:cNvCxnSpPr>
            <a:stCxn id="43" idx="0"/>
          </p:cNvCxnSpPr>
          <p:nvPr/>
        </p:nvCxnSpPr>
        <p:spPr>
          <a:xfrm flipV="1">
            <a:off x="6233159" y="3595185"/>
            <a:ext cx="0" cy="385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7213661" y="4093752"/>
            <a:ext cx="1938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2018.4 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設立？</a:t>
            </a:r>
            <a:endParaRPr kumimoji="1"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事務局：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UniBio Press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予定</a:t>
            </a:r>
            <a:endParaRPr kumimoji="1"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科研費「国際情報発信強化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」</a:t>
            </a:r>
            <a:endParaRPr kumimoji="1"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の申請を計画中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548010" y="424764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2018.1 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設立？</a:t>
            </a:r>
            <a:endParaRPr kumimoji="1"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事務局</a:t>
            </a:r>
            <a:r>
              <a:rPr kumimoji="1"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</a:t>
            </a:r>
            <a:r>
              <a:rPr lang="ja-JP" altLang="en-US" sz="10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○○○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○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66" name="直線コネクタ 65"/>
          <p:cNvCxnSpPr>
            <a:stCxn id="43" idx="2"/>
          </p:cNvCxnSpPr>
          <p:nvPr/>
        </p:nvCxnSpPr>
        <p:spPr>
          <a:xfrm>
            <a:off x="6233159" y="4914970"/>
            <a:ext cx="200294" cy="29444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直線コネクタ 66"/>
          <p:cNvCxnSpPr>
            <a:stCxn id="43" idx="2"/>
          </p:cNvCxnSpPr>
          <p:nvPr/>
        </p:nvCxnSpPr>
        <p:spPr>
          <a:xfrm>
            <a:off x="6233159" y="4914970"/>
            <a:ext cx="601712" cy="30847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直線コネクタ 67"/>
          <p:cNvCxnSpPr>
            <a:stCxn id="43" idx="2"/>
          </p:cNvCxnSpPr>
          <p:nvPr/>
        </p:nvCxnSpPr>
        <p:spPr>
          <a:xfrm>
            <a:off x="6233159" y="4914970"/>
            <a:ext cx="1192109" cy="30847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9" name="角丸四角形 68"/>
          <p:cNvSpPr/>
          <p:nvPr/>
        </p:nvSpPr>
        <p:spPr>
          <a:xfrm>
            <a:off x="3998704" y="4195632"/>
            <a:ext cx="891332" cy="504127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JPCOAR</a:t>
            </a:r>
          </a:p>
          <a:p>
            <a:pPr algn="ctr"/>
            <a:r>
              <a:rPr kumimoji="1" lang="ja-JP" altLang="en-US" sz="10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研究者情報</a:t>
            </a:r>
            <a:endParaRPr kumimoji="1" lang="en-US" altLang="ja-JP" sz="10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連携</a:t>
            </a:r>
            <a:r>
              <a:rPr kumimoji="1" lang="en-US" altLang="ja-JP" sz="10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TF</a:t>
            </a:r>
            <a:endParaRPr kumimoji="1" lang="ja-JP" altLang="en-US" sz="10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70" name="直線コネクタ 69"/>
          <p:cNvCxnSpPr>
            <a:stCxn id="42" idx="3"/>
            <a:endCxn id="69" idx="1"/>
          </p:cNvCxnSpPr>
          <p:nvPr/>
        </p:nvCxnSpPr>
        <p:spPr>
          <a:xfrm flipV="1">
            <a:off x="3775606" y="4447696"/>
            <a:ext cx="223098" cy="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61"/>
          <p:cNvSpPr txBox="1"/>
          <p:nvPr/>
        </p:nvSpPr>
        <p:spPr>
          <a:xfrm>
            <a:off x="5676817" y="2415524"/>
            <a:ext cx="230063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2018.4 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設立？</a:t>
            </a:r>
            <a:endParaRPr kumimoji="1"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事務局（リード機関）</a:t>
            </a:r>
            <a:r>
              <a:rPr kumimoji="1"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：</a:t>
            </a:r>
            <a:r>
              <a:rPr lang="ja-JP" altLang="en-US" sz="11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○○○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○</a:t>
            </a:r>
            <a:endParaRPr kumimoji="1"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main: XXXX </a:t>
            </a:r>
          </a:p>
          <a:p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admin: XXXX</a:t>
            </a:r>
          </a:p>
          <a:p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tech: XXXX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9750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（参考）ロードマップ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kumimoji="1" lang="en-US" altLang="ja-JP" smtClean="0"/>
              <a:t>2017/9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F41C-CC69-49FC-A5F4-11F4FB54851A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"/>
          </p:nvPr>
        </p:nvSpPr>
        <p:spPr/>
        <p:txBody>
          <a:bodyPr anchor="ctr"/>
          <a:lstStyle/>
          <a:p>
            <a:pPr algn="just"/>
            <a:r>
              <a:rPr kumimoji="1" lang="ja-JP" altLang="en-US" dirty="0"/>
              <a:t>学術機関コンソーシアムの設立</a:t>
            </a:r>
            <a:endParaRPr kumimoji="1" lang="en-US" altLang="ja-JP" dirty="0"/>
          </a:p>
          <a:p>
            <a:pPr lvl="1" algn="just"/>
            <a:r>
              <a:rPr kumimoji="1" lang="en-US" altLang="ja-JP" dirty="0"/>
              <a:t>5</a:t>
            </a:r>
            <a:r>
              <a:rPr kumimoji="1" lang="ja-JP" altLang="en-US" dirty="0"/>
              <a:t>学術機関メンバーでプレ懇談会（</a:t>
            </a:r>
            <a:r>
              <a:rPr kumimoji="1" lang="en-US" altLang="ja-JP" dirty="0"/>
              <a:t>2017</a:t>
            </a:r>
            <a:r>
              <a:rPr kumimoji="1" lang="ja-JP" altLang="en-US" dirty="0"/>
              <a:t>年</a:t>
            </a:r>
            <a:r>
              <a:rPr kumimoji="1" lang="en-US" altLang="ja-JP" dirty="0"/>
              <a:t>9</a:t>
            </a:r>
            <a:r>
              <a:rPr kumimoji="1" lang="ja-JP" altLang="en-US" dirty="0"/>
              <a:t>月</a:t>
            </a:r>
            <a:r>
              <a:rPr kumimoji="1" lang="en-US" altLang="ja-JP" dirty="0"/>
              <a:t>4</a:t>
            </a:r>
            <a:r>
              <a:rPr kumimoji="1" lang="ja-JP" altLang="en-US" dirty="0"/>
              <a:t>日）</a:t>
            </a:r>
            <a:endParaRPr kumimoji="1" lang="en-US" altLang="ja-JP" dirty="0"/>
          </a:p>
          <a:p>
            <a:pPr lvl="1" algn="just"/>
            <a:r>
              <a:rPr lang="en-US" altLang="ja-JP" dirty="0" smtClean="0"/>
              <a:t>5</a:t>
            </a:r>
            <a:r>
              <a:rPr lang="ja-JP" altLang="en-US" dirty="0" smtClean="0"/>
              <a:t>機関を中心に設立発起人会を立ち上げ、「設立趣意書」を作成（</a:t>
            </a:r>
            <a:r>
              <a:rPr lang="en-US" altLang="ja-JP" dirty="0" smtClean="0"/>
              <a:t>2017</a:t>
            </a:r>
            <a:r>
              <a:rPr lang="ja-JP" altLang="en-US" dirty="0" smtClean="0"/>
              <a:t>年</a:t>
            </a:r>
            <a:r>
              <a:rPr lang="en-US" altLang="ja-JP" dirty="0" smtClean="0"/>
              <a:t>9</a:t>
            </a:r>
            <a:r>
              <a:rPr lang="ja-JP" altLang="en-US" dirty="0" smtClean="0"/>
              <a:t>月中）</a:t>
            </a:r>
            <a:endParaRPr lang="en-US" altLang="ja-JP" dirty="0" smtClean="0"/>
          </a:p>
          <a:p>
            <a:pPr lvl="1" algn="just"/>
            <a:r>
              <a:rPr lang="ja-JP" altLang="en-US" dirty="0" smtClean="0"/>
              <a:t>コンソーシアムへの参加を募る（</a:t>
            </a:r>
            <a:r>
              <a:rPr lang="en-US" altLang="ja-JP" dirty="0" smtClean="0"/>
              <a:t>2017</a:t>
            </a:r>
            <a:r>
              <a:rPr lang="ja-JP" altLang="en-US" dirty="0" smtClean="0"/>
              <a:t>年</a:t>
            </a:r>
            <a:r>
              <a:rPr lang="en-US" altLang="ja-JP" dirty="0" smtClean="0"/>
              <a:t>10</a:t>
            </a:r>
            <a:r>
              <a:rPr lang="ja-JP" altLang="en-US" dirty="0" smtClean="0"/>
              <a:t>月～）</a:t>
            </a:r>
            <a:endParaRPr lang="en-US" altLang="ja-JP" dirty="0" smtClean="0"/>
          </a:p>
          <a:p>
            <a:pPr lvl="1" algn="just"/>
            <a:r>
              <a:rPr lang="en-US" altLang="ja-JP" dirty="0" smtClean="0"/>
              <a:t>5</a:t>
            </a:r>
            <a:r>
              <a:rPr lang="ja-JP" altLang="en-US" dirty="0" smtClean="0"/>
              <a:t>機関＋</a:t>
            </a:r>
            <a:r>
              <a:rPr lang="en-US" altLang="ja-JP" dirty="0" smtClean="0"/>
              <a:t>α</a:t>
            </a:r>
            <a:r>
              <a:rPr lang="ja-JP" altLang="en-US" dirty="0" smtClean="0"/>
              <a:t>で設立準備会を立ち上げ（</a:t>
            </a:r>
            <a:r>
              <a:rPr lang="en-US" altLang="ja-JP" dirty="0" smtClean="0"/>
              <a:t>2017</a:t>
            </a:r>
            <a:r>
              <a:rPr lang="ja-JP" altLang="en-US" dirty="0" smtClean="0"/>
              <a:t>年</a:t>
            </a:r>
            <a:r>
              <a:rPr lang="en-US" altLang="ja-JP" dirty="0" smtClean="0"/>
              <a:t>11</a:t>
            </a:r>
            <a:r>
              <a:rPr lang="ja-JP" altLang="en-US" dirty="0" smtClean="0"/>
              <a:t>月）</a:t>
            </a:r>
            <a:endParaRPr lang="en-US" altLang="ja-JP" dirty="0" smtClean="0"/>
          </a:p>
          <a:p>
            <a:pPr lvl="1" algn="just"/>
            <a:r>
              <a:rPr lang="ja-JP" altLang="en-US" dirty="0" smtClean="0"/>
              <a:t>設立総会を開催し、コンソーシアム設立（</a:t>
            </a:r>
            <a:r>
              <a:rPr lang="en-US" altLang="ja-JP" dirty="0" smtClean="0"/>
              <a:t>2018</a:t>
            </a:r>
            <a:r>
              <a:rPr lang="ja-JP" altLang="en-US" dirty="0" smtClean="0"/>
              <a:t>年</a:t>
            </a:r>
            <a:r>
              <a:rPr lang="en-US" altLang="ja-JP" dirty="0" smtClean="0"/>
              <a:t>1</a:t>
            </a:r>
            <a:r>
              <a:rPr lang="ja-JP" altLang="en-US" dirty="0" smtClean="0"/>
              <a:t>月？）</a:t>
            </a:r>
            <a:endParaRPr lang="en-US" altLang="ja-JP" dirty="0" smtClean="0"/>
          </a:p>
          <a:p>
            <a:pPr lvl="1" algn="just"/>
            <a:r>
              <a:rPr lang="ja-JP" altLang="en-US" dirty="0" smtClean="0"/>
              <a:t>活動開始（</a:t>
            </a:r>
            <a:r>
              <a:rPr lang="en-US" altLang="ja-JP" dirty="0" smtClean="0"/>
              <a:t>2018</a:t>
            </a:r>
            <a:r>
              <a:rPr lang="ja-JP" altLang="en-US" dirty="0" smtClean="0"/>
              <a:t>年</a:t>
            </a:r>
            <a:r>
              <a:rPr lang="en-US" altLang="ja-JP" dirty="0" smtClean="0"/>
              <a:t>4</a:t>
            </a:r>
            <a:r>
              <a:rPr lang="ja-JP" altLang="en-US" dirty="0" smtClean="0"/>
              <a:t>月？）</a:t>
            </a:r>
            <a:endParaRPr lang="en-US" altLang="ja-JP" dirty="0"/>
          </a:p>
          <a:p>
            <a:pPr algn="just"/>
            <a:r>
              <a:rPr lang="ja-JP" altLang="en-US" dirty="0"/>
              <a:t>学協会コンソーシアムの設立（</a:t>
            </a:r>
            <a:r>
              <a:rPr lang="en-US" altLang="ja-JP" dirty="0"/>
              <a:t>2018</a:t>
            </a:r>
            <a:r>
              <a:rPr lang="ja-JP" altLang="en-US" dirty="0"/>
              <a:t>年</a:t>
            </a:r>
            <a:r>
              <a:rPr lang="en-US" altLang="ja-JP" dirty="0"/>
              <a:t>4</a:t>
            </a:r>
            <a:r>
              <a:rPr lang="ja-JP" altLang="en-US" dirty="0"/>
              <a:t>月？）</a:t>
            </a:r>
            <a:endParaRPr lang="en-US" altLang="ja-JP" dirty="0"/>
          </a:p>
          <a:p>
            <a:pPr algn="just"/>
            <a:r>
              <a:rPr lang="ja-JP" altLang="en-US" dirty="0" smtClean="0"/>
              <a:t>ジャパンコンソーシアム（仮想）の</a:t>
            </a:r>
            <a:r>
              <a:rPr lang="ja-JP" altLang="en-US" dirty="0"/>
              <a:t>設立（</a:t>
            </a:r>
            <a:r>
              <a:rPr lang="en-US" altLang="ja-JP" dirty="0"/>
              <a:t>2018</a:t>
            </a:r>
            <a:r>
              <a:rPr lang="ja-JP" altLang="en-US" dirty="0"/>
              <a:t>年</a:t>
            </a:r>
            <a:r>
              <a:rPr lang="en-US" altLang="ja-JP" dirty="0"/>
              <a:t>4</a:t>
            </a:r>
            <a:r>
              <a:rPr lang="ja-JP" altLang="en-US" dirty="0"/>
              <a:t>月？</a:t>
            </a:r>
            <a:r>
              <a:rPr lang="ja-JP" altLang="en-US" dirty="0" smtClean="0"/>
              <a:t>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08721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アース">
  <a:themeElements>
    <a:clrScheme name="ペーパー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アース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1085</Words>
  <Application>Microsoft Office PowerPoint</Application>
  <PresentationFormat>画面に合わせる (4:3)</PresentationFormat>
  <Paragraphs>215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ＭＳ Ｐゴシック</vt:lpstr>
      <vt:lpstr>メイリオ</vt:lpstr>
      <vt:lpstr>Calibri</vt:lpstr>
      <vt:lpstr>Wingdings</vt:lpstr>
      <vt:lpstr>Wingdings 3</vt:lpstr>
      <vt:lpstr>アース</vt:lpstr>
      <vt:lpstr>ORCID国内コンソーシアムの設立に向けて</vt:lpstr>
      <vt:lpstr>日本の現状</vt:lpstr>
      <vt:lpstr>日本の機関メンバー</vt:lpstr>
      <vt:lpstr>機関メンバー会費（～2017年）</vt:lpstr>
      <vt:lpstr>機関メンバー会費（2018年～）</vt:lpstr>
      <vt:lpstr>JPCOAR研究者情報連携TFの活動</vt:lpstr>
      <vt:lpstr>学協会コンソーシアム設立に向けた動き</vt:lpstr>
      <vt:lpstr>公開シンポジウム</vt:lpstr>
      <vt:lpstr>理念</vt:lpstr>
      <vt:lpstr>3つのリスク</vt:lpstr>
      <vt:lpstr>コンソーシアムのメリット</vt:lpstr>
      <vt:lpstr>（参考）コンソーシアム設置形態</vt:lpstr>
      <vt:lpstr>（参考）ORCID国内コンソーシアムの設置形態</vt:lpstr>
      <vt:lpstr>（参考）ロードマップ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2014-05-26T02:24:59Z</dcterms:created>
  <dcterms:modified xsi:type="dcterms:W3CDTF">2017-09-20T01:37:46Z</dcterms:modified>
</cp:coreProperties>
</file>